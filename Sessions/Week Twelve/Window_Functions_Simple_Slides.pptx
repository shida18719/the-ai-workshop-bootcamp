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relaxed tone. Reassure the room: today is ONE simple idea, nothing scary.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whole lesson is 'give each row a number in order'. Don't introduce RANK, PARTITION, etc — keep it to ROW_NUMBER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race story. Smaller time = faster. Keep it concrete and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line slowly. Say each part out loud in plain English. Let them repeat it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result table. Point at Ivan = position 1. Celebrate — they just read a window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takeaway slide. If they remember nothing else, they remember this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Hands-on. Walk around. The exercises are deliberately one-word changes so everyone succeeds.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encouragement. They've genuinely learned something real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118AB2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566160"/>
            <a:ext cx="3657600" cy="3657600"/>
          </a:xfrm>
          <a:prstGeom prst="ellipse">
            <a:avLst/>
          </a:prstGeom>
          <a:solidFill>
            <a:srgbClr val="06A77D">
              <a:alpha val="1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4231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6868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8FE3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simple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868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things in order — one easy line of SQL.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 ·  SQL &amp; AI Bootcamp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just one idea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7373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give each row a number, in order.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36576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lesson.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end, you'll be able to answer:  </a:t>
            </a:r>
            <a:pPr indent="0" marL="0">
              <a:buNone/>
            </a:pPr>
            <a:r>
              <a:rPr lang="en-US" sz="2000" b="1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came 1st, 2nd, 3rd?”</a:t>
            </a:r>
            <a:pPr indent="0" marL="0">
              <a:buNone/>
            </a:pPr>
            <a:r>
              <a:rPr lang="en-US" sz="20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using SQL.</a:t>
            </a:r>
            <a:endParaRPr lang="en-US" sz="2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5029200"/>
            <a:ext cx="1645920" cy="1645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Picture a finished race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crossed the line. Now we want to put them in order — 1st, 2nd, 3rd…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finish time means they were faster.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5486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017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3474720"/>
          <a:ext cx="48463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2423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743200"/>
            <a:ext cx="329184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0" y="5303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SQL to hand out the medals for us.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line that does it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1B2A33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914400" y="137160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</a:t>
            </a:r>
            <a:pPr indent="0" marL="0">
              <a:buNone/>
            </a:pPr>
            <a:r>
              <a:rPr lang="en-US" sz="2600" dirty="0">
                <a:solidFill>
                  <a:srgbClr val="FBF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 </a:t>
            </a:r>
            <a:pPr indent="0" marL="0">
              <a:buNone/>
            </a:pPr>
            <a:r>
              <a:rPr lang="en-US" sz="2600" b="1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buNone/>
            </a:pPr>
            <a:r>
              <a:rPr lang="en-US" sz="2600" dirty="0">
                <a:solidFill>
                  <a:srgbClr val="FBF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FinishTime 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3611880"/>
            <a:ext cx="594360" cy="594360"/>
          </a:xfrm>
          <a:prstGeom prst="ellipse">
            <a:avLst/>
          </a:prstGeom>
          <a:solidFill>
            <a:srgbClr val="F4A259">
              <a:alpha val="2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721608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34564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91640" y="39136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each row a number: 1, 2, 3…”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68680" y="5029200"/>
            <a:ext cx="594360" cy="594360"/>
          </a:xfrm>
          <a:prstGeom prst="ellipse">
            <a:avLst/>
          </a:prstGeom>
          <a:solidFill>
            <a:srgbClr val="118AB2">
              <a:alpha val="20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13892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8737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(ORDER BY FinishTime)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91640" y="533095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“…in order of finish time, smallest first.”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here's the 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counted the runners in order of finish time. Ivan was fastest, so he gets Position 1.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68880" y="2011680"/>
          <a:ext cx="72237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377440"/>
                <a:gridCol w="2194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A77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A77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A77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A77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58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A77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🎉  That's a window function in action.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thing to remember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188720" y="1645920"/>
            <a:ext cx="9784080" cy="1828800"/>
          </a:xfrm>
          <a:prstGeom prst="roundRect">
            <a:avLst>
              <a:gd name="adj" fmla="val 5000"/>
            </a:avLst>
          </a:prstGeom>
          <a:solidFill>
            <a:srgbClr val="1B2A33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5448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</a:t>
            </a:r>
            <a:pPr indent="0" marL="0">
              <a:buNone/>
            </a:pPr>
            <a:r>
              <a:rPr lang="en-US" sz="2800" dirty="0">
                <a:solidFill>
                  <a:srgbClr val="FBF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 ( </a:t>
            </a:r>
            <a:pPr indent="0" marL="0">
              <a:buNone/>
            </a:pPr>
            <a:r>
              <a:rPr lang="en-US" sz="2800" b="1" dirty="0">
                <a:solidFill>
                  <a:srgbClr val="8FE3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buNone/>
            </a:pPr>
            <a:r>
              <a:rPr lang="en-US" sz="2800" dirty="0">
                <a:solidFill>
                  <a:srgbClr val="FBF8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 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54480" y="3520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1, 2, 3…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3520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count 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88720" y="4572000"/>
            <a:ext cx="9784080" cy="1371600"/>
          </a:xfrm>
          <a:prstGeom prst="roundRect">
            <a:avLst>
              <a:gd name="adj" fmla="val 6667"/>
            </a:avLst>
          </a:prstGeom>
          <a:solidFill>
            <a:srgbClr val="8FE3CF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457200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read that line, you understand window functions. Everything else is just a small variation on this.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11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just change one word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window_functions_simple.sql in your Codespace, run it, then try these: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as-is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runners numbered fastest to slowest. Read the result.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48840"/>
            <a:ext cx="777240" cy="777240"/>
          </a:xfrm>
          <a:prstGeom prst="ellipse">
            <a:avLst/>
          </a:prstGeom>
          <a:solidFill>
            <a:srgbClr val="06A77D"/>
          </a:solidFill>
          <a:ln/>
        </p:spPr>
      </p:sp>
      <p:sp>
        <p:nvSpPr>
          <p:cNvPr id="12" name="Text 9"/>
          <p:cNvSpPr/>
          <p:nvPr/>
        </p:nvSpPr>
        <p:spPr>
          <a:xfrm>
            <a:off x="46177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1772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the order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617720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them slowest to fastest. Add the word DESC after FinishTime.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046720" y="18745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BF8F1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66760" y="2148840"/>
            <a:ext cx="777240" cy="777240"/>
          </a:xfrm>
          <a:prstGeom prst="ellipse">
            <a:avLst/>
          </a:prstGeom>
          <a:solidFill>
            <a:srgbClr val="F4A259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836676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 name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66760" y="365760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them in alphabetical order. Order by Name instead.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trick questions. Change one word, run it, see what happens. 🚀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4572000" cy="4572000"/>
          </a:xfrm>
          <a:prstGeom prst="ellipse">
            <a:avLst/>
          </a:prstGeom>
          <a:solidFill>
            <a:srgbClr val="06A77D">
              <a:alpha val="2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did it!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68680" y="38404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FE3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ask SQL to put rows in order and number them — a real, useful skill, and the foundation for everything else window functions can do.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8680" y="5303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done — see you next session! 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Workshop · SQL &amp; AI Bootcamp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 Functions Made Simple</dc:title>
  <dc:subject>PptxGenJS Presentation</dc:subject>
  <dc:creator>The AI Workshop CIC</dc:creator>
  <cp:lastModifiedBy>The AI Workshop CIC</cp:lastModifiedBy>
  <cp:revision>1</cp:revision>
  <dcterms:created xsi:type="dcterms:W3CDTF">2026-06-13T09:11:37Z</dcterms:created>
  <dcterms:modified xsi:type="dcterms:W3CDTF">2026-06-13T09:11:37Z</dcterms:modified>
</cp:coreProperties>
</file>