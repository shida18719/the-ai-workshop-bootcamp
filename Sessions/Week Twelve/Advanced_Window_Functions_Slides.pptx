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Window Functions session. Set the scene with the marathon image before any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into the marathon + train analogy. Ask the room: why is grouping by age fairer? Land the point that PARTITION BY = the coaches.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OVER() into its three parts. Stress PARTITION BY is optional, ORDER BY is essential for ranking/offset.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tie behaviour is the crux. Walk through 1,1,3 (RANK) vs 1,1,2 (DENSE_RANK)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query on screen. Point at Hannah &amp; Ella (both 42s) to show the Rank vs Dense difference highlighted in coral.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Offset = looking ahead/behind. Aggregate = whole group but keeps rows. Contrast with GROUP BY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10-12 minutes. Exercise 1 uses PARTITION BY; 2 uses MIN() OVER; 3 needs a CTE with two RANKs. Solutions are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real work — finance time series. Close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383280"/>
            <a:ext cx="3840480" cy="384048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402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WINDOW FUNCTIONS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6868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comparisons, smarter results — a few lines of SQL.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448056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·  SQL &amp; AI Bootcamp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Stephen Nwoye  ·  Reviewed by Alex Adjahossou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a fair marathon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judging a community marathon — children, teens, adults all crossing the line.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 10-year-old against a 25-year-old wouldn't be fair. So you 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runners by age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measure each against their own peers.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what a window function does.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0" y="137160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45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your data as a train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49440" y="25146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coach holds one group — like the age brackets in the race.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calculation runs inside each coach, separately.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still one train — every part handled with care.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window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 (...) clause defines the “window” each row can see.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</a:t>
            </a:r>
            <a:pPr indent="0" marL="0">
              <a:buNone/>
            </a:pPr>
            <a:r>
              <a:rPr lang="en-US" sz="2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 </a:t>
            </a:r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 Category </a:t>
            </a:r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FinishTime </a:t>
            </a:r>
            <a:pPr indent="0" marL="0">
              <a:buNone/>
            </a:pPr>
            <a:r>
              <a:rPr lang="en-US" sz="2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840480"/>
            <a:ext cx="685800" cy="6858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9593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rows into groups (the coaches). Optional — leave it out for one big window.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3566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3840480"/>
            <a:ext cx="685800" cy="6858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9593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sequence inside each group — essential for ranking and offset functions.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3566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3840480"/>
            <a:ext cx="685800" cy="685800"/>
          </a:xfrm>
          <a:prstGeom prst="ellipse">
            <a:avLst/>
          </a:prstGeom>
          <a:solidFill>
            <a:srgbClr val="F2B705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9593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function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667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ROW_NUMBER, LAG, SUM… decides what is computed over that window.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functions — it's all about ties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297680" y="1691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96167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9768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ties allowed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gets a unique number — 1, 2, 3… even when times match.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012680" y="1691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1268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but skips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2860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rows share a rank, then it jumps ahead (1, 1, 3).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3913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4297680" y="3931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A896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no gaps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5262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rows share a rank, next is the very next number (1, 1, 2).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3657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3913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NTILE(n)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10012680" y="3931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2B705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01268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45262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all rows into n equal-sized groups — medals or snacks 🍫.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four rankings at once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852160" cy="4206240"/>
          </a:xfrm>
          <a:prstGeom prst="roundRect">
            <a:avLst>
              <a:gd name="adj" fmla="val 1739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508760"/>
            <a:ext cx="5486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FinishTime, Category,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FinishTime) Row_Num,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FinishTime) Rnk,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DENSE_RANK()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FinishTime) Dense,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NTILE(4)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FinishTime) Ntile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Runners;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17320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58952"/>
                <a:gridCol w="758952"/>
                <a:gridCol w="850392"/>
                <a:gridCol w="74066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75120" y="4572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&amp; Ella tie at 42s → RANK shares 3 then jumps; DENSE_RANK stays tight.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families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— perspective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LEAD()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peek at the next runner. Closing the gap?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glance back. Was the previous runner faster?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68680" y="388620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0" name="Text 6"/>
          <p:cNvSpPr/>
          <p:nvPr/>
        </p:nvSpPr>
        <p:spPr>
          <a:xfrm>
            <a:off x="1051560" y="3886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pPr indent="0" marL="0"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(FinishTime) </a:t>
            </a:r>
            <a:pPr indent="0" marL="0"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</a:t>
            </a:r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buNone/>
            </a:pPr>
            <a:r>
              <a:rPr lang="en-US" sz="1200" dirty="0">
                <a:solidFill>
                  <a:srgbClr val="F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137160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— the whole group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9224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it all up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what's normal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/ MAX()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fastest &amp; slowest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3611880"/>
            <a:ext cx="4800600" cy="1554480"/>
          </a:xfrm>
          <a:prstGeom prst="roundRect">
            <a:avLst>
              <a:gd name="adj" fmla="val 4706"/>
            </a:avLst>
          </a:prstGeom>
          <a:solidFill>
            <a:srgbClr val="5EEAD4">
              <a:alpha val="4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720840" y="37490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</a:t>
            </a:r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aggregate with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OVER(...)</a:t>
            </a:r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every row — unlike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collapses them.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three exercises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within category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runners inside their own category by finish time. A child shouldn't race an adult.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5120640"/>
            <a:ext cx="2926080" cy="502920"/>
          </a:xfrm>
          <a:prstGeom prst="roundRect">
            <a:avLst>
              <a:gd name="adj" fmla="val 45455"/>
            </a:avLst>
          </a:prstGeom>
          <a:solidFill>
            <a:srgbClr val="028090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PARTITION BY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61772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off the pace?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772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runner, show the gap to the fastest time in their category. The leader shows 0.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17720" y="5120640"/>
            <a:ext cx="2926080" cy="502920"/>
          </a:xfrm>
          <a:prstGeom prst="roundRect">
            <a:avLst>
              <a:gd name="adj" fmla="val 45455"/>
            </a:avLst>
          </a:prstGeom>
          <a:solidFill>
            <a:srgbClr val="00A896">
              <a:alpha val="2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61772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MIN() OVER(...)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150876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66760" y="178308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36676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&amp; slowest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6676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one labelled row per extreme in each category — 'Fastest' / 'Slowest'.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366760" y="5120640"/>
            <a:ext cx="2926080" cy="502920"/>
          </a:xfrm>
          <a:prstGeom prst="roundRect">
            <a:avLst>
              <a:gd name="adj" fmla="val 45455"/>
            </a:avLst>
          </a:prstGeom>
          <a:solidFill>
            <a:srgbClr val="F2B705">
              <a:alpha val="2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36676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two RANKs + CTE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 — finance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928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618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→ returns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417320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compares each price to the prior one to compute simple or log returns.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272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852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Imputing gaps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LAST_VALUE() / FIRST_VALUE() / LAG() carry the last known value forward.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97764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4270248"/>
            <a:ext cx="457200" cy="457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6168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0873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Aggregating trades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1732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OVER(...) and ROW_NUMBER() track cumulative positions &amp; rolling averages.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3816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2880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1248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handful of functions —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different stakes.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412480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logic.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comparisons.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results.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Window Functions</dc:title>
  <dc:subject>PptxGenJS Presentation</dc:subject>
  <dc:creator>The AI Workshop CIC</dc:creator>
  <cp:lastModifiedBy>The AI Workshop CIC</cp:lastModifiedBy>
  <cp:revision>1</cp:revision>
  <dcterms:created xsi:type="dcterms:W3CDTF">2026-06-13T08:46:52Z</dcterms:created>
  <dcterms:modified xsi:type="dcterms:W3CDTF">2026-06-13T08:46:52Z</dcterms:modified>
</cp:coreProperties>
</file>